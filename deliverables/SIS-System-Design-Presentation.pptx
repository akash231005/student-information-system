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UCS3513  •  SYSTEM DESIGN LABORATORY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07040" cy="12344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3400" b="1">
                <a:solidFill>
                  <a:srgbClr val="E7EDF7"/>
                </a:solidFill>
                <a:latin typeface="Aptos"/>
              </a:rPr>
              <a:t>Scalable Student
Information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9601200" cy="685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900" b="0">
                <a:solidFill>
                  <a:srgbClr val="97A8BE"/>
                </a:solidFill>
                <a:latin typeface="Aptos"/>
              </a:rPr>
              <a:t>Correctness-first architecture, concurrent enrollment safety, and measured scaling trade-offs.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572000"/>
            <a:ext cx="3291840" cy="7132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736592"/>
            <a:ext cx="283464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23 automated 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4572000"/>
            <a:ext cx="3291840" cy="7132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4736592"/>
            <a:ext cx="283464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1">
                <a:solidFill>
                  <a:srgbClr val="E7EDF7"/>
                </a:solidFill>
                <a:latin typeface="Aptos"/>
              </a:rPr>
              <a:t>PostgreSQL concurrency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4572000"/>
            <a:ext cx="3611880" cy="7132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736592"/>
            <a:ext cx="32004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E7EDF7"/>
                </a:solidFill>
                <a:latin typeface="Aptos"/>
              </a:rPr>
              <a:t>8 required components demonstrated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26480"/>
            <a:ext cx="1051560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97A8BE"/>
                </a:solidFill>
                <a:latin typeface="Aptos"/>
              </a:rPr>
              <a:t>Prototype scope and limits are stated explicitly; no production-readiness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One authoritative database, isolated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15468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121408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1">
                <a:solidFill>
                  <a:srgbClr val="77D4C5"/>
                </a:solidFill>
                <a:latin typeface="Aptos"/>
              </a:rPr>
              <a:t>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23744"/>
            <a:ext cx="283464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0">
                <a:solidFill>
                  <a:srgbClr val="E7EDF7"/>
                </a:solidFill>
                <a:latin typeface="Aptos"/>
              </a:rPr>
              <a:t>Browser dashboard
Locust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920240"/>
            <a:ext cx="315468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121408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1">
                <a:solidFill>
                  <a:srgbClr val="77D4C5"/>
                </a:solidFill>
                <a:latin typeface="Aptos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523744"/>
            <a:ext cx="283464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0">
                <a:solidFill>
                  <a:srgbClr val="E7EDF7"/>
                </a:solidFill>
                <a:latin typeface="Aptos"/>
              </a:rPr>
              <a:t>FastAPI modular monolith
Validation + token bucket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920240"/>
            <a:ext cx="3154680" cy="1234440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121408"/>
            <a:ext cx="28346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1">
                <a:solidFill>
                  <a:srgbClr val="77D4C5"/>
                </a:solidFill>
                <a:latin typeface="Aptos"/>
              </a:rPr>
              <a:t>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523744"/>
            <a:ext cx="283464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0">
                <a:solidFill>
                  <a:srgbClr val="E7EDF7"/>
                </a:solidFill>
                <a:latin typeface="Aptos"/>
              </a:rPr>
              <a:t>PostgreSQL
Academic records +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359152"/>
            <a:ext cx="320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500" b="1">
                <a:solidFill>
                  <a:srgbClr val="FFBE69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2359152"/>
            <a:ext cx="320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500" b="1">
                <a:solidFill>
                  <a:srgbClr val="FFBE6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86200"/>
            <a:ext cx="10287000" cy="1051560"/>
          </a:xfrm>
          <a:prstGeom prst="roundRect">
            <a:avLst/>
          </a:prstGeom>
          <a:solidFill>
            <a:srgbClr val="162235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096512"/>
            <a:ext cx="20574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SYSTEM-DESIGN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50791"/>
            <a:ext cx="768096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E7EDF7"/>
                </a:solidFill>
                <a:latin typeface="Aptos"/>
              </a:rPr>
              <a:t>Cache · hashing · shard simulation · ID generator · short links · crawler · autocomplete ·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14984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FFBE69"/>
                </a:solidFill>
                <a:latin typeface="Aptos"/>
              </a:rPr>
              <a:t>The in-memory components demonstrate mechanisms; they are not claimed as durable distributed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DOMAIN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The data model reflects academic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63624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Catalog identity: code, title and credits.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86584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Offering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68296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A course in a particular term/section, with capacity and registration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0672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91256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Enrollment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72968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Student + offering, status and idempotency key; database constraints prevent duplicates.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95344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Academic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77639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Attendance per session, bounded assessment grades, timetable events and notifications.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10927080" cy="438912"/>
          </a:xfrm>
          <a:prstGeom prst="roundRect">
            <a:avLst/>
          </a:prstGeom>
          <a:solidFill>
            <a:srgbClr val="163037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70448"/>
            <a:ext cx="10515600" cy="2468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77D4C5"/>
                </a:solidFill>
                <a:latin typeface="Aptos"/>
              </a:rPr>
              <a:t>Invariant: 0 ≤ enrolled_count ≤ capacity. The database—not the UI—decides the final seat.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The last seat is a transaction, not a UI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074920" cy="2240280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448056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FFBE69"/>
                </a:solidFill>
                <a:latin typeface="Aptos"/>
              </a:rPr>
              <a:t>NAÏVE COUNT →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38912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0">
                <a:solidFill>
                  <a:srgbClr val="E7EDF7"/>
                </a:solidFill>
                <a:latin typeface="Aptos"/>
              </a:rPr>
              <a:t>Two requests can both read one remaining seat, then both insert. A transaction alone does not automatically serialize that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440680" cy="2240280"/>
          </a:xfrm>
          <a:prstGeom prst="roundRect">
            <a:avLst/>
          </a:prstGeom>
          <a:solidFill>
            <a:srgbClr val="142B2F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10512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CONDITIONAL ATOMIC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4709160" cy="10972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0">
                <a:solidFill>
                  <a:srgbClr val="E7EDF7"/>
                </a:solidFill>
                <a:latin typeface="Aptos"/>
              </a:rPr>
              <a:t>Update only when status is OPEN and enrolled_count &lt; capacity; insert in the same transaction; unique constraints remain the final guard.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0881360" cy="1051560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53128"/>
            <a:ext cx="21031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LIVE TEST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407408"/>
            <a:ext cx="8183879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700" b="1">
                <a:solidFill>
                  <a:srgbClr val="E7EDF7"/>
                </a:solidFill>
                <a:latin typeface="Aptos"/>
              </a:rPr>
              <a:t>20 simultaneous students · 5 seats · 5 accepted · 15 rejected · 0 over-capacity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97A8BE"/>
                </a:solidFill>
                <a:latin typeface="Aptos"/>
              </a:rPr>
              <a:t>A retry uses an idempotency key; a failed insert rolls back the seat 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Academic workflows include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63624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Registration, PBKDF2 password hashing, login and short-lived signed bearer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86584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68296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Discover offerings, enroll, retry idempotently and drop once to release a seat.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0672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91256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72968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Requires active enrollment; duplicate student/offering/session rows are rejected.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95344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Grades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77639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Marks cannot exceed assessment maximum; only enrolled students can be graded.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Timetable +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782312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Room/time overlap validation and per-student notification read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10927080" cy="438912"/>
          </a:xfrm>
          <a:prstGeom prst="roundRect">
            <a:avLst/>
          </a:prstGeom>
          <a:solidFill>
            <a:srgbClr val="163037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70448"/>
            <a:ext cx="10515600" cy="2468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77D4C5"/>
                </a:solidFill>
                <a:latin typeface="Aptos"/>
              </a:rPr>
              <a:t>Role-based checks protect staff mutations and student records; token revocation/refresh and production identity controls remain future hardening.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SYSTEM-DESIGN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Eight required components, each with a measurable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91056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Rate limiter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1591056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429 rate, accepted/rejected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81328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91056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Sharding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591056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Per-shard records and readability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60320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70048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Consistent hashing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670048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Moved-key fraction after node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60320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670048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Key-value 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670048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Hit/miss and response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39312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749039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Unique 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3749039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IDs/second and collision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39312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749039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URL shortener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749039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Creation and redirect latency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18304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828032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Web crawler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4828032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Pages crawled, errors, frontier size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18304"/>
            <a:ext cx="5303520" cy="84124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828032"/>
            <a:ext cx="178308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77D4C5"/>
                </a:solidFill>
                <a:latin typeface="Aptos"/>
              </a:rPr>
              <a:t>Autocomplete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828032"/>
            <a:ext cx="310896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Prefix latency and result relevance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25312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FFBE69"/>
                </a:solidFill>
                <a:latin typeface="Aptos"/>
              </a:rPr>
              <a:t>Adding a fourth node moved 277/1,000 sampled keys (27.7%); the ring routes but does not migrate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Short baseline runs establish a starting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257800" cy="11704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09928"/>
            <a:ext cx="210312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97A8BE"/>
                </a:solidFill>
                <a:latin typeface="Aptos"/>
              </a:rPr>
              <a:t>Course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100" b="1">
                <a:solidFill>
                  <a:srgbClr val="77D4C5"/>
                </a:solidFill>
                <a:latin typeface="Aptos"/>
              </a:rPr>
              <a:t>35.82 req/s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057400"/>
            <a:ext cx="2423160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p50 5 ms  •  p95 10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72768"/>
            <a:ext cx="5257800" cy="11704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5" y="1709928"/>
            <a:ext cx="210312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97A8BE"/>
                </a:solidFill>
                <a:latin typeface="Aptos"/>
              </a:rPr>
              <a:t>Profile 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5" y="2011680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100" b="1">
                <a:solidFill>
                  <a:srgbClr val="77D4C5"/>
                </a:solidFill>
                <a:latin typeface="Aptos"/>
              </a:rPr>
              <a:t>35.27 req/s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057400"/>
            <a:ext cx="2423160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p50 5 ms  •  p95 12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54096"/>
            <a:ext cx="5257800" cy="11704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191256"/>
            <a:ext cx="210312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97A8BE"/>
                </a:solidFill>
                <a:latin typeface="Aptos"/>
              </a:rPr>
              <a:t>Account 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493008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100" b="1">
                <a:solidFill>
                  <a:srgbClr val="77D4C5"/>
                </a:solidFill>
                <a:latin typeface="Aptos"/>
              </a:rPr>
              <a:t>19.47 req/s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3538728"/>
            <a:ext cx="2423160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p50 60 ms  •  p95 83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054096"/>
            <a:ext cx="5257800" cy="1170432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3191256"/>
            <a:ext cx="210312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97A8BE"/>
                </a:solidFill>
                <a:latin typeface="Aptos"/>
              </a:rPr>
              <a:t>Autocomplete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5" y="3493008"/>
            <a:ext cx="224028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100" b="1">
                <a:solidFill>
                  <a:srgbClr val="77D4C5"/>
                </a:solidFill>
                <a:latin typeface="Aptos"/>
              </a:rPr>
              <a:t>35.55 req/s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3538728"/>
            <a:ext cx="2423160" cy="310896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7EDF7"/>
                </a:solidFill>
                <a:latin typeface="Aptos"/>
              </a:rPr>
              <a:t>p50 2 ms  •  p95 5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00600"/>
            <a:ext cx="10789920" cy="822960"/>
          </a:xfrm>
          <a:prstGeom prst="roundRect">
            <a:avLst/>
          </a:prstGeom>
          <a:solidFill>
            <a:srgbClr val="2D2219"/>
          </a:solidFill>
          <a:ln>
            <a:solidFill>
              <a:srgbClr val="FF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001768"/>
            <a:ext cx="1028700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FFBE69"/>
                </a:solidFill>
                <a:latin typeface="Aptos"/>
              </a:rPr>
              <a:t>10 users · 20 seconds · synthetic 1k students / 100 courses / 200 offerings · limiter disabled · 0 failures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79008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0">
                <a:solidFill>
                  <a:srgbClr val="97A8BE"/>
                </a:solidFill>
                <a:latin typeface="Aptos"/>
              </a:rPr>
              <a:t>Autocomplete cache OFF vs ON: p50/p95 5/10 ms vs 2/5 ms (one 20s run each); repeat before capacity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TRADE-OFFS AND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What this prototype does 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Auth +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63624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PBKDF2/HMAC tokens; staff mutations and student record reads enforce role/self-access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86584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Local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68296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Rate limiter, cache, shard store and metrics reset when the process restarts; short-link mappings persist in PostgreSQL.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0672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91256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Shard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172968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Changing the ring does not move, replicate or recover stored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95344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77639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Autocomplete cache is TTL-based and can be briefly stale; never use it for seat/grade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10927080" cy="658368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2240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782312"/>
            <a:ext cx="8183879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E7EDF7"/>
                </a:solidFill>
                <a:latin typeface="Aptos"/>
              </a:rPr>
              <a:t>Same-host public HTTPS only; live DNS fetch unavailable here, so network behavior needs validation.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10927080" cy="438912"/>
          </a:xfrm>
          <a:prstGeom prst="roundRect">
            <a:avLst/>
          </a:prstGeom>
          <a:solidFill>
            <a:srgbClr val="163037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70448"/>
            <a:ext cx="10515600" cy="2468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77D4C5"/>
                </a:solidFill>
                <a:latin typeface="Aptos"/>
              </a:rPr>
              <a:t>Use synthetic records only. Do not expose this coursework prototype to the public internet.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7D4C5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77D4C5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700" b="1">
                <a:solidFill>
                  <a:srgbClr val="E7EDF7"/>
                </a:solidFill>
                <a:latin typeface="Aptos"/>
              </a:rPr>
              <a:t>A defensible design is one you can explain and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7395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96012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1">
                <a:solidFill>
                  <a:srgbClr val="97A8BE"/>
                </a:solidFill>
                <a:latin typeface="Aptos"/>
              </a:rPr>
              <a:t>SIS SCALABILITY LAB  •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1">
                <a:solidFill>
                  <a:srgbClr val="97A8B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27632"/>
            <a:ext cx="5212080" cy="2057400"/>
          </a:xfrm>
          <a:prstGeom prst="roundRect">
            <a:avLst/>
          </a:prstGeom>
          <a:solidFill>
            <a:srgbClr val="142B2F"/>
          </a:solidFill>
          <a:ln>
            <a:solidFill>
              <a:srgbClr val="77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1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77D4C5"/>
                </a:solidFill>
                <a:latin typeface="Aptos"/>
              </a:rPr>
              <a:t>WHAT WE HAVE 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4526280" cy="10058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700" b="0">
                <a:solidFill>
                  <a:srgbClr val="E7EDF7"/>
                </a:solidFill>
                <a:latin typeface="Aptos"/>
              </a:rPr>
              <a:t>Database-enforced seat reservation survives a concurrent capacity test. Academic workflows and component behaviors have automated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27632"/>
            <a:ext cx="5257800" cy="2057400"/>
          </a:xfrm>
          <a:prstGeom prst="roundRect">
            <a:avLst/>
          </a:prstGeom>
          <a:solidFill>
            <a:srgbClr val="121D30"/>
          </a:solidFill>
          <a:ln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1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FFBE69"/>
                </a:solidFill>
                <a:latin typeface="Aptos"/>
              </a:rPr>
              <a:t>NEXT ENGINEERING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9152"/>
            <a:ext cx="4526280" cy="10058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0">
                <a:solidFill>
                  <a:srgbClr val="E7EDF7"/>
                </a:solidFill>
                <a:latin typeface="Aptos"/>
              </a:rPr>
              <a:t>Add token revocation, repeat longer benchmarks with resource sampling, use shared Redis state, and implement real shard migration before scaling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10332720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900" b="1">
                <a:solidFill>
                  <a:srgbClr val="E7EDF7"/>
                </a:solidFill>
                <a:latin typeface="Aptos"/>
              </a:rPr>
              <a:t>Differentiator: an Academic Safety Case—showing the transactional constraints behind registration outcomes, not merely adding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10332720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200" b="1">
                <a:solidFill>
                  <a:srgbClr val="77D4C5"/>
                </a:solidFill>
                <a:latin typeface="Aptos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