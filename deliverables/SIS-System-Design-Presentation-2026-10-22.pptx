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1417320"/>
            <a:ext cx="1371600" cy="41148"/>
          </a:xfrm>
          <a:prstGeom prst="rect">
            <a:avLst/>
          </a:prstGeom>
          <a:solidFill>
            <a:srgbClr val="087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783080"/>
            <a:ext cx="95097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72B36"/>
                </a:solidFill>
                <a:latin typeface="Aptos"/>
              </a:rPr>
              <a:t>A Student Information System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72B36"/>
                </a:solidFill>
                <a:latin typeface="Aptos"/>
              </a:rPr>
              <a:t>that refuses to lie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913632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26873"/>
                </a:solidFill>
                <a:latin typeface="Aptos"/>
              </a:rPr>
              <a:t>Every claim in this talk is a measurement, or it is not in the talk.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074920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2B36"/>
                </a:solidFill>
                <a:latin typeface="Aptos"/>
              </a:rPr>
              <a:t>Sujith  ·  UCS3513 System Design Laboratory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526873"/>
                </a:solidFill>
                <a:latin typeface="Aptos"/>
              </a:rPr>
              <a:t>github.com/sujith0613/sis-system-design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88375" y="598932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spc="60">
                <a:solidFill>
                  <a:srgbClr val="526873"/>
                </a:solidFill>
                <a:latin typeface="Aptos"/>
              </a:rPr>
              <a:t>10 minutes  ·  live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80">
                <a:solidFill>
                  <a:srgbClr val="087E78"/>
                </a:solidFill>
                <a:latin typeface="Aptos"/>
              </a:rPr>
              <a:t>THE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72B36"/>
                </a:solidFill>
                <a:latin typeface="Aptos"/>
              </a:rPr>
              <a:t>Everyone demos the happy path.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377440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87E78"/>
                </a:solidFill>
                <a:latin typeface="Aptos"/>
              </a:rPr>
              <a:t>Ours demos the failure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977639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26873"/>
                </a:solidFill>
                <a:latin typeface="Aptos"/>
              </a:rPr>
              <a:t>Redis. MongoDB. Rate limits. Every project in this room has that diagram.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26873"/>
                </a:solidFill>
                <a:latin typeface="Aptos"/>
              </a:rPr>
              <a:t>This one can prove it — so it can also show you what happens when it breaks.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6144768"/>
            <a:ext cx="10454335" cy="7315"/>
          </a:xfrm>
          <a:prstGeom prst="rect">
            <a:avLst/>
          </a:prstGeom>
          <a:solidFill>
            <a:srgbClr val="D5DE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625449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spc="40">
                <a:solidFill>
                  <a:srgbClr val="526873"/>
                </a:solidFill>
                <a:latin typeface="Aptos"/>
              </a:rPr>
              <a:t>Orbit SIS  ·  system design  ·  22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5735" y="625449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40">
                <a:solidFill>
                  <a:srgbClr val="526873"/>
                </a:solidFill>
                <a:latin typeface="Aptos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92656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80">
                <a:solidFill>
                  <a:srgbClr val="087E78"/>
                </a:solidFill>
                <a:latin typeface="Aptos"/>
              </a:rPr>
              <a:t>THE STARTING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68680"/>
            <a:ext cx="1045433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2B36"/>
                </a:solidFill>
                <a:latin typeface="Aptos"/>
              </a:rPr>
              <a:t>Three claims, and how each one 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9905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3"/>
                </a:solidFill>
                <a:latin typeface="Aptos"/>
              </a:rPr>
              <a:t>Each of these is true of a prototype that never has to fail in public.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6144768"/>
            <a:ext cx="10454335" cy="7315"/>
          </a:xfrm>
          <a:prstGeom prst="rect">
            <a:avLst/>
          </a:prstGeom>
          <a:solidFill>
            <a:srgbClr val="D5DE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625449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spc="40">
                <a:solidFill>
                  <a:srgbClr val="526873"/>
                </a:solidFill>
                <a:latin typeface="Aptos"/>
              </a:rPr>
              <a:t>Orbit SIS  ·  system design  ·  22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625449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40">
                <a:solidFill>
                  <a:srgbClr val="526873"/>
                </a:solidFill>
                <a:latin typeface="Aptos"/>
              </a:rPr>
              <a:t>03 /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514600"/>
            <a:ext cx="331012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2B36"/>
                </a:solidFill>
                <a:latin typeface="Aptos"/>
              </a:rPr>
              <a:t>“Rate limited”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310128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26873"/>
                </a:solidFill>
                <a:latin typeface="Aptos"/>
              </a:rPr>
              <a:t>Two replicas.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26873"/>
                </a:solidFill>
                <a:latin typeface="Aptos"/>
              </a:rPr>
              <a:t>Two counters.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26873"/>
                </a:solidFill>
                <a:latin typeface="Aptos"/>
              </a:rPr>
              <a:t>Double the limit.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514600"/>
            <a:ext cx="331012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27432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2B36"/>
                </a:solidFill>
                <a:latin typeface="Aptos"/>
              </a:rPr>
              <a:t>“Sharded”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3310128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26873"/>
                </a:solidFill>
                <a:latin typeface="Aptos"/>
              </a:rPr>
              <a:t>One process.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26873"/>
                </a:solidFill>
                <a:latin typeface="Aptos"/>
              </a:rPr>
              <a:t>One dictionary.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26873"/>
                </a:solidFill>
                <a:latin typeface="Aptos"/>
              </a:rPr>
              <a:t>hash(key) % 3.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2514600"/>
            <a:ext cx="331012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7432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2B36"/>
                </a:solidFill>
                <a:latin typeface="Aptos"/>
              </a:rPr>
              <a:t>“Cached”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310128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26873"/>
                </a:solidFill>
                <a:latin typeface="Aptos"/>
              </a:rPr>
              <a:t>Cache and truth share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26873"/>
                </a:solidFill>
                <a:latin typeface="Aptos"/>
              </a:rPr>
              <a:t>a lifetime, so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26873"/>
                </a:solidFill>
                <a:latin typeface="Aptos"/>
              </a:rPr>
              <a:t>neither is real.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7492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B36"/>
                </a:solidFill>
                <a:latin typeface="Aptos"/>
              </a:rPr>
              <a:t>We deleted all three. No flag, no fallback: if a store is down, the system refuses to answer.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80">
                <a:solidFill>
                  <a:srgbClr val="087E78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7132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72B36"/>
                </a:solidFill>
                <a:latin typeface="Aptos"/>
              </a:rPr>
              <a:t>Three real stores, one startup guard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rcRect t="12255" b="3824"/>
          <a:stretch>
            <a:fillRect/>
          </a:stretch>
        </p:blipFill>
        <p:spPr>
          <a:xfrm>
            <a:off x="1798167" y="1170432"/>
            <a:ext cx="8595360" cy="50394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6309360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873"/>
                </a:solidFill>
                <a:latin typeface="Aptos"/>
              </a:rPr>
              <a:t>Six containers on one host: PostgreSQL, Redis, config server, two shards, mongos. Nothing is emulated in-process.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5735" y="630936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40">
                <a:solidFill>
                  <a:srgbClr val="526873"/>
                </a:solidFill>
                <a:latin typeface="Aptos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92656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80">
                <a:solidFill>
                  <a:srgbClr val="087E78"/>
                </a:solidFill>
                <a:latin typeface="Aptos"/>
              </a:rPr>
              <a:t>THE UNIT'S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68680"/>
            <a:ext cx="1045433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2B36"/>
                </a:solidFill>
                <a:latin typeface="Aptos"/>
              </a:rPr>
              <a:t>Eight components, each with a job you can observe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6144768"/>
            <a:ext cx="10454335" cy="7315"/>
          </a:xfrm>
          <a:prstGeom prst="rect">
            <a:avLst/>
          </a:prstGeom>
          <a:solidFill>
            <a:srgbClr val="D5DE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5449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spc="40">
                <a:solidFill>
                  <a:srgbClr val="526873"/>
                </a:solidFill>
                <a:latin typeface="Aptos"/>
              </a:rPr>
              <a:t>Orbit SIS  ·  system design  · 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5735" y="625449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40">
                <a:solidFill>
                  <a:srgbClr val="526873"/>
                </a:solidFill>
                <a:latin typeface="Aptos"/>
              </a:rPr>
              <a:t>05 / 09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8680" y="2084831"/>
          <a:ext cx="9372599" cy="345643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74519"/>
                <a:gridCol w="3794760"/>
                <a:gridCol w="3703320"/>
              </a:tblGrid>
              <a:tr h="384048">
                <a:tc>
                  <a:txBody>
                    <a:bodyPr lIns="109728" rIns="10972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spc="120">
                          <a:solidFill>
                            <a:srgbClr val="526873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>
                    <a:solidFill>
                      <a:srgbClr val="F3F6F6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spc="120">
                          <a:solidFill>
                            <a:srgbClr val="526873"/>
                          </a:solidFill>
                          <a:latin typeface="Aptos"/>
                        </a:rPr>
                        <a:t>WHAT IT DOES HERE</a:t>
                      </a:r>
                    </a:p>
                  </a:txBody>
                  <a:tcPr>
                    <a:solidFill>
                      <a:srgbClr val="F3F6F6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spc="120">
                          <a:solidFill>
                            <a:srgbClr val="526873"/>
                          </a:solidFill>
                          <a:latin typeface="Aptos"/>
                        </a:rPr>
                        <a:t>WHERE THAT STATE ACTUALLY LIVES</a:t>
                      </a:r>
                    </a:p>
                  </a:txBody>
                  <a:tcPr>
                    <a:solidFill>
                      <a:srgbClr val="F3F6F6"/>
                    </a:solidFill>
                  </a:tcPr>
                </a:tc>
              </a:tr>
              <a:tr h="384048">
                <a:tc>
                  <a:txBody>
                    <a:bodyPr lIns="109728" rIns="10972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72B36"/>
                          </a:solidFill>
                          <a:latin typeface="Aptos"/>
                        </a:rPr>
                        <a:t>Cache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526873"/>
                          </a:solidFill>
                          <a:latin typeface="Aptos"/>
                        </a:rPr>
                        <a:t>autocomplete results with server-side expiry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526873"/>
                          </a:solidFill>
                          <a:latin typeface="Aptos"/>
                        </a:rPr>
                        <a:t>Redis · TTL 20 s, allkeys-lru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lIns="109728" rIns="10972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72B36"/>
                          </a:solidFill>
                          <a:latin typeface="Aptos"/>
                        </a:rPr>
                        <a:t>Unique IDs</a:t>
                      </a: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526873"/>
                          </a:solidFill>
                          <a:latin typeface="Aptos"/>
                        </a:rPr>
                        <a:t>time-sortable 64-bit identifiers</a:t>
                      </a: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526873"/>
                          </a:solidFill>
                          <a:latin typeface="Aptos"/>
                        </a:rPr>
                        <a:t>Redis worker slots</a:t>
                      </a: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</a:tr>
              <a:tr h="384048">
                <a:tc>
                  <a:txBody>
                    <a:bodyPr lIns="109728" rIns="10972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72B36"/>
                          </a:solidFill>
                          <a:latin typeface="Aptos"/>
                        </a:rPr>
                        <a:t>Rate limiter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526873"/>
                          </a:solidFill>
                          <a:latin typeface="Aptos"/>
                        </a:rPr>
                        <a:t>one quota shared by every process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526873"/>
                          </a:solidFill>
                          <a:latin typeface="Aptos"/>
                        </a:rPr>
                        <a:t>Redis · atomic Lua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lIns="109728" rIns="10972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72B36"/>
                          </a:solidFill>
                          <a:latin typeface="Aptos"/>
                        </a:rPr>
                        <a:t>URL shortener</a:t>
                      </a: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526873"/>
                          </a:solidFill>
                          <a:latin typeface="Aptos"/>
                        </a:rPr>
                        <a:t>create and redirect (307)</a:t>
                      </a: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526873"/>
                          </a:solidFill>
                          <a:latin typeface="Aptos"/>
                        </a:rPr>
                        <a:t>PostgreSQL</a:t>
                      </a: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</a:tr>
              <a:tr h="384048">
                <a:tc>
                  <a:txBody>
                    <a:bodyPr lIns="109728" rIns="10972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72B36"/>
                          </a:solidFill>
                          <a:latin typeface="Aptos"/>
                        </a:rPr>
                        <a:t>Web crawler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526873"/>
                          </a:solidFill>
                          <a:latin typeface="Aptos"/>
                        </a:rPr>
                        <a:t>robots-aware frontier, resumable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526873"/>
                          </a:solidFill>
                          <a:latin typeface="Aptos"/>
                        </a:rPr>
                        <a:t>MongoDB collections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lIns="109728" rIns="10972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72B36"/>
                          </a:solidFill>
                          <a:latin typeface="Aptos"/>
                        </a:rPr>
                        <a:t>Autocomplete</a:t>
                      </a: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526873"/>
                          </a:solidFill>
                          <a:latin typeface="Aptos"/>
                        </a:rPr>
                        <a:t>prefix search over the catalogue</a:t>
                      </a: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526873"/>
                          </a:solidFill>
                          <a:latin typeface="Aptos"/>
                        </a:rPr>
                        <a:t>Redis in front of PostgreSQL</a:t>
                      </a: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</a:tr>
              <a:tr h="384048">
                <a:tc>
                  <a:txBody>
                    <a:bodyPr lIns="109728" rIns="10972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72B36"/>
                          </a:solidFill>
                          <a:latin typeface="Aptos"/>
                        </a:rPr>
                        <a:t>Consistent hashing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526873"/>
                          </a:solidFill>
                          <a:latin typeface="Aptos"/>
                        </a:rPr>
                        <a:t>100 virtual nodes, routing shown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526873"/>
                          </a:solidFill>
                          <a:latin typeface="Aptos"/>
                        </a:rPr>
                        <a:t>application 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lIns="109728" rIns="10972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72B36"/>
                          </a:solidFill>
                          <a:latin typeface="Aptos"/>
                        </a:rPr>
                        <a:t>Sharding</a:t>
                      </a: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526873"/>
                          </a:solidFill>
                          <a:latin typeface="Aptos"/>
                        </a:rPr>
                        <a:t>hashed shard key, real chunk moves</a:t>
                      </a: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526873"/>
                          </a:solidFill>
                          <a:latin typeface="Aptos"/>
                        </a:rPr>
                        <a:t>MongoDB · 2 shards + mongos</a:t>
                      </a: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571500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87E78"/>
                </a:solidFill>
                <a:latin typeface="Aptos"/>
              </a:rPr>
              <a:t>Each one answers on a live endpoint under /system-design/ — not on a slide.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92656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80">
                <a:solidFill>
                  <a:srgbClr val="087E78"/>
                </a:solidFill>
                <a:latin typeface="Aptos"/>
              </a:rPr>
              <a:t>CLAIM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68680"/>
            <a:ext cx="1045433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2B36"/>
                </a:solidFill>
                <a:latin typeface="Aptos"/>
              </a:rPr>
              <a:t>It refuses to run on a lie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6144768"/>
            <a:ext cx="10454335" cy="7315"/>
          </a:xfrm>
          <a:prstGeom prst="rect">
            <a:avLst/>
          </a:prstGeom>
          <a:solidFill>
            <a:srgbClr val="D5DE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5449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spc="40">
                <a:solidFill>
                  <a:srgbClr val="526873"/>
                </a:solidFill>
                <a:latin typeface="Aptos"/>
              </a:rPr>
              <a:t>Orbit SIS  ·  system design  · 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5735" y="625449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40">
                <a:solidFill>
                  <a:srgbClr val="526873"/>
                </a:solidFill>
                <a:latin typeface="Aptos"/>
              </a:rPr>
              <a:t>06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4114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B36"/>
                </a:solidFill>
                <a:latin typeface="Aptos"/>
              </a:rPr>
              <a:t>Take Redis away and the honest answer is 503 with the store named.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</a:pPr>
            <a:r>
              <a:rPr sz="1250" b="0">
                <a:solidFill>
                  <a:srgbClr val="526873"/>
                </a:solidFill>
                <a:latin typeface="Aptos"/>
              </a:rPr>
              <a:t>A per-process fallback would have answered 200 — and silently doubled every client's quota. Availability loses to honesty here, on purpose.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0" y="2057400"/>
            <a:ext cx="6035040" cy="1874519"/>
          </a:xfrm>
          <a:prstGeom prst="rect">
            <a:avLst/>
          </a:prstGeom>
          <a:solidFill>
            <a:srgbClr val="F3F6F6"/>
          </a:solidFill>
          <a:ln w="9525">
            <a:solidFill>
              <a:srgbClr val="D5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58968" y="2212848"/>
            <a:ext cx="563270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spc="140">
                <a:solidFill>
                  <a:srgbClr val="526873"/>
                </a:solidFill>
                <a:latin typeface="Aptos"/>
              </a:rPr>
              <a:t>AT BOOT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58968" y="2532888"/>
            <a:ext cx="5632703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873"/>
                </a:solidFill>
                <a:latin typeface="Consolas"/>
              </a:rPr>
              <a:t>$ uvicorn app.main:app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72B36"/>
                </a:solidFill>
                <a:latin typeface="Consolas"/>
              </a:rPr>
              <a:t>RuntimeError: Required state stores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72B36"/>
                </a:solidFill>
                <a:latin typeface="Consolas"/>
              </a:rPr>
              <a:t>  are not available: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8353F"/>
                </a:solidFill>
                <a:latin typeface="Consolas"/>
              </a:rPr>
              <a:t>  - Redis unreachable at :6399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72B36"/>
                </a:solidFill>
                <a:latin typeface="Consolas"/>
              </a:rPr>
              <a:t>ERROR: Application startup failed.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4114800"/>
            <a:ext cx="6035040" cy="1691640"/>
          </a:xfrm>
          <a:prstGeom prst="rect">
            <a:avLst/>
          </a:prstGeom>
          <a:solidFill>
            <a:srgbClr val="F3F6F6"/>
          </a:solidFill>
          <a:ln w="9525">
            <a:solidFill>
              <a:srgbClr val="D5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58968" y="4270248"/>
            <a:ext cx="563270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spc="140">
                <a:solidFill>
                  <a:srgbClr val="526873"/>
                </a:solidFill>
                <a:latin typeface="Aptos"/>
              </a:rPr>
              <a:t>AT RUNTIME, WITH REDIS KILLED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58968" y="4590288"/>
            <a:ext cx="5632703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873"/>
                </a:solidFill>
                <a:latin typeface="Consolas"/>
              </a:rPr>
              <a:t>$ podman stop sis-redis   $ curl /courses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72B36"/>
                </a:solidFill>
                <a:latin typeface="Consolas"/>
              </a:rPr>
              <a:t>[503]  {"status": "degraded",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72B36"/>
                </a:solidFill>
                <a:latin typeface="Consolas"/>
              </a:rPr>
              <a:t>        "store": "redis",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72B36"/>
                </a:solidFill>
                <a:latin typeface="Consolas"/>
              </a:rPr>
              <a:t>        "detail": "…cannot decide…"}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315968"/>
            <a:ext cx="822960" cy="27432"/>
          </a:xfrm>
          <a:prstGeom prst="rect">
            <a:avLst/>
          </a:prstGeom>
          <a:solidFill>
            <a:srgbClr val="087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498848"/>
            <a:ext cx="4023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87E78"/>
                </a:solidFill>
                <a:latin typeface="Aptos"/>
              </a:rPr>
              <a:t>Recovery is the store coming back — not a restart.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92656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80">
                <a:solidFill>
                  <a:srgbClr val="087E78"/>
                </a:solidFill>
                <a:latin typeface="Aptos"/>
              </a:rPr>
              <a:t>CLAIM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68680"/>
            <a:ext cx="1045433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2B36"/>
                </a:solidFill>
                <a:latin typeface="Aptos"/>
              </a:rPr>
              <a:t>Our hash ring disagrees with the database — in public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6144768"/>
            <a:ext cx="10454335" cy="7315"/>
          </a:xfrm>
          <a:prstGeom prst="rect">
            <a:avLst/>
          </a:prstGeom>
          <a:solidFill>
            <a:srgbClr val="D5DE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5449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spc="40">
                <a:solidFill>
                  <a:srgbClr val="526873"/>
                </a:solidFill>
                <a:latin typeface="Aptos"/>
              </a:rPr>
              <a:t>Orbit SIS  ·  system design  · 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5735" y="625449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40">
                <a:solidFill>
                  <a:srgbClr val="526873"/>
                </a:solidFill>
                <a:latin typeface="Aptos"/>
              </a:rPr>
              <a:t>07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148840"/>
            <a:ext cx="5257800" cy="1874519"/>
          </a:xfrm>
          <a:prstGeom prst="rect">
            <a:avLst/>
          </a:prstGeom>
          <a:solidFill>
            <a:srgbClr val="F3F6F6"/>
          </a:solidFill>
          <a:ln w="9525">
            <a:solidFill>
              <a:srgbClr val="D5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304288"/>
            <a:ext cx="485546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spc="140">
                <a:solidFill>
                  <a:srgbClr val="526873"/>
                </a:solidFill>
                <a:latin typeface="Aptos"/>
              </a:rPr>
              <a:t>THE ROUTING DISAGREEMENT, AS SERVED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624328"/>
            <a:ext cx="4855464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873"/>
                </a:solidFill>
                <a:latin typeface="Consolas"/>
              </a:rPr>
              <a:t>$ curl /system-design/route/DEMO-KEY-1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72B36"/>
                </a:solidFill>
                <a:latin typeface="Consolas"/>
              </a:rPr>
              <a:t>{ "ring_prediction": "sis-shard-b",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72B36"/>
                </a:solidFill>
                <a:latin typeface="Consolas"/>
              </a:rPr>
              <a:t>  "actual_owner":    "sis-shard-a",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7E78"/>
                </a:solidFill>
                <a:latin typeface="Consolas"/>
              </a:rPr>
              <a:t>  "agrees": false }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206240"/>
            <a:ext cx="5257800" cy="1554480"/>
          </a:xfrm>
          <a:prstGeom prst="rect">
            <a:avLst/>
          </a:prstGeom>
          <a:solidFill>
            <a:srgbClr val="F3F6F6"/>
          </a:solidFill>
          <a:ln w="9525">
            <a:solidFill>
              <a:srgbClr val="D5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4361688"/>
            <a:ext cx="485546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spc="140">
                <a:solidFill>
                  <a:srgbClr val="526873"/>
                </a:solidFill>
                <a:latin typeface="Aptos"/>
              </a:rPr>
              <a:t>THE MOVEMENT IS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681727"/>
            <a:ext cx="4855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873"/>
                </a:solidFill>
                <a:latin typeface="Consolas"/>
              </a:rPr>
              <a:t>$ curl -X POST …/move-chunk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72B36"/>
                </a:solidFill>
                <a:latin typeface="Consolas"/>
              </a:rPr>
              <a:t>{ "from_shard": "sis-shard-a",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72B36"/>
                </a:solidFill>
                <a:latin typeface="Consolas"/>
              </a:rPr>
              <a:t>  "to_shard":   "sis-shard-b"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480060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B36"/>
                </a:solidFill>
                <a:latin typeface="Aptos"/>
              </a:rPr>
              <a:t>Two answers, one endpoint.</a:t>
            </a:r>
          </a:p>
          <a:p>
            <a:pPr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</a:pPr>
            <a:r>
              <a:rPr sz="1250" b="0">
                <a:solidFill>
                  <a:srgbClr val="526873"/>
                </a:solidFill>
                <a:latin typeface="Aptos"/>
              </a:rPr>
              <a:t>The left number is the consistent-hashing ring from the lecture. The right is what mongos actually does with a hashed shard key. They disagree, and the API says so with a boolean.</a:t>
            </a:r>
          </a:p>
          <a:p>
            <a:pPr algn="l">
              <a:lnSpc>
                <a:spcPct val="145000"/>
              </a:lnSpc>
              <a:spcBef>
                <a:spcPts val="1400"/>
              </a:spcBef>
              <a:spcAft>
                <a:spcPts val="0"/>
              </a:spcAft>
            </a:pPr>
            <a:r>
              <a:rPr sz="1250" b="0">
                <a:solidFill>
                  <a:srgbClr val="526873"/>
                </a:solidFill>
                <a:latin typeface="Aptos"/>
              </a:rPr>
              <a:t>The ring routes. moveChunk moves. One of those is a drawing; the other changed 129 documents between two replica sets on this machine.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92656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80">
                <a:solidFill>
                  <a:srgbClr val="087E78"/>
                </a:solidFill>
                <a:latin typeface="Aptos"/>
              </a:rPr>
              <a:t>CLAIM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68680"/>
            <a:ext cx="1045433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2B36"/>
                </a:solidFill>
                <a:latin typeface="Aptos"/>
              </a:rPr>
              <a:t>The invariants hold when things go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6144768"/>
            <a:ext cx="10454335" cy="7315"/>
          </a:xfrm>
          <a:prstGeom prst="rect">
            <a:avLst/>
          </a:prstGeom>
          <a:solidFill>
            <a:srgbClr val="D5DE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5449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spc="40">
                <a:solidFill>
                  <a:srgbClr val="526873"/>
                </a:solidFill>
                <a:latin typeface="Aptos"/>
              </a:rPr>
              <a:t>Orbit SIS  ·  system design  · 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5735" y="625449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40">
                <a:solidFill>
                  <a:srgbClr val="526873"/>
                </a:solidFill>
                <a:latin typeface="Aptos"/>
              </a:rPr>
              <a:t>08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103120"/>
            <a:ext cx="2459736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103120"/>
            <a:ext cx="2459736" cy="32004"/>
          </a:xfrm>
          <a:prstGeom prst="rect">
            <a:avLst/>
          </a:prstGeom>
          <a:solidFill>
            <a:srgbClr val="087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322576"/>
            <a:ext cx="200253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87E78"/>
                </a:solidFill>
                <a:latin typeface="Aptos"/>
              </a:rPr>
              <a:t>5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" y="2889503"/>
            <a:ext cx="2002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2B36"/>
                </a:solidFill>
                <a:latin typeface="Aptos"/>
              </a:rPr>
              <a:t>seats under concurrency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3429000"/>
            <a:ext cx="2002536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873"/>
                </a:solidFill>
                <a:latin typeface="Aptos"/>
              </a:rPr>
              <a:t>One 5-seat offering, 20 simultaneous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873"/>
                </a:solidFill>
                <a:latin typeface="Aptos"/>
              </a:rPr>
              <a:t>enrolments: 5 x 201, 15 x 409,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873"/>
                </a:solidFill>
                <a:latin typeface="Aptos"/>
              </a:rPr>
              <a:t>enrolled_count = 5.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39" y="2103120"/>
            <a:ext cx="2459736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39" y="2103120"/>
            <a:ext cx="2459736" cy="32004"/>
          </a:xfrm>
          <a:prstGeom prst="rect">
            <a:avLst/>
          </a:prstGeom>
          <a:solidFill>
            <a:srgbClr val="087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58183" y="2322576"/>
            <a:ext cx="200253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87E78"/>
                </a:solidFill>
                <a:latin typeface="Aptos"/>
              </a:rPr>
              <a:t>3 →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8183" y="2889503"/>
            <a:ext cx="2002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2B36"/>
                </a:solidFill>
                <a:latin typeface="Aptos"/>
              </a:rPr>
              <a:t>one bucket, two workers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8183" y="3429000"/>
            <a:ext cx="2002536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873"/>
                </a:solidFill>
                <a:latin typeface="Aptos"/>
              </a:rPr>
              <a:t>Worker A spends all three tokens;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873"/>
                </a:solidFill>
                <a:latin typeface="Aptos"/>
              </a:rPr>
              <a:t>worker B is refused.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103120"/>
            <a:ext cx="2459736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103120"/>
            <a:ext cx="2459736" cy="32004"/>
          </a:xfrm>
          <a:prstGeom prst="rect">
            <a:avLst/>
          </a:prstGeom>
          <a:solidFill>
            <a:srgbClr val="087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2322576"/>
            <a:ext cx="200253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87E78"/>
                </a:solidFill>
                <a:latin typeface="Aptos"/>
              </a:rPr>
              <a:t>1,000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889503"/>
            <a:ext cx="2002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2B36"/>
                </a:solidFill>
                <a:latin typeface="Aptos"/>
              </a:rPr>
              <a:t>IDs from two slots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3429000"/>
            <a:ext cx="2002536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873"/>
                </a:solidFill>
                <a:latin typeface="Aptos"/>
              </a:rPr>
              <a:t>Two processes never mint the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873"/>
                </a:solidFill>
                <a:latin typeface="Aptos"/>
              </a:rPr>
              <a:t>same number: 1,000 generated,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873"/>
                </a:solidFill>
                <a:latin typeface="Aptos"/>
              </a:rPr>
              <a:t>0 collisions.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23960" y="2103120"/>
            <a:ext cx="2459736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23960" y="2103120"/>
            <a:ext cx="2459736" cy="32004"/>
          </a:xfrm>
          <a:prstGeom prst="rect">
            <a:avLst/>
          </a:prstGeom>
          <a:solidFill>
            <a:srgbClr val="087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1704" y="2322576"/>
            <a:ext cx="200253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87E78"/>
                </a:solidFill>
                <a:latin typeface="Aptos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704" y="2889503"/>
            <a:ext cx="2002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2B36"/>
                </a:solidFill>
                <a:latin typeface="Aptos"/>
              </a:rPr>
              <a:t>pages refetched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61704" y="3429000"/>
            <a:ext cx="2002536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873"/>
                </a:solidFill>
                <a:latin typeface="Aptos"/>
              </a:rPr>
              <a:t>A second crawl took 5 URLs off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873"/>
                </a:solidFill>
                <a:latin typeface="Aptos"/>
              </a:rPr>
              <a:t>the persisted frontier and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873"/>
                </a:solidFill>
                <a:latin typeface="Aptos"/>
              </a:rPr>
              <a:t>fetched none twice.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13892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E78"/>
                </a:solidFill>
                <a:latin typeface="Aptos"/>
              </a:rPr>
              <a:t>The shared thing lives in the store, not in the process.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53212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26873"/>
                </a:solidFill>
                <a:latin typeface="Aptos"/>
              </a:rPr>
              <a:t>Every number here came out of the running stack, and the suite asserts the counts, not the vibe.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80">
                <a:solidFill>
                  <a:srgbClr val="087E78"/>
                </a:solidFill>
                <a:latin typeface="Aptos"/>
              </a:rPr>
              <a:t>HONEST LIMITS  ·  AND THE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2296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2B36"/>
                </a:solidFill>
                <a:latin typeface="Aptos"/>
              </a:rPr>
              <a:t>What this is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50292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526873"/>
                </a:solidFill>
                <a:latin typeface="Aptos"/>
              </a:rPr>
              <a:t>—  One host. No failover, no backup, no replication test.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526873"/>
                </a:solidFill>
                <a:latin typeface="Aptos"/>
              </a:rPr>
              <a:t>—  Redis is volatile on purpose: a restart resets the buckets.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526873"/>
                </a:solidFill>
                <a:latin typeface="Aptos"/>
              </a:rPr>
              <a:t>—  Crawler is polite: 3 pages in 7.1 s at 0.5 s delay.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526873"/>
                </a:solidFill>
                <a:latin typeface="Aptos"/>
              </a:rPr>
              <a:t>—  Load numbers predate the migration, so they are not quoted.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526873"/>
                </a:solidFill>
                <a:latin typeface="Aptos"/>
              </a:rPr>
              <a:t>—  One cache flag was deleted, never defaulted to off.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526873"/>
                </a:solidFill>
                <a:latin typeface="Aptos"/>
              </a:rPr>
              <a:t>—  The suite wipes the dev database — a rough edge, not a secret.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371600"/>
            <a:ext cx="5029200" cy="4206240"/>
          </a:xfrm>
          <a:prstGeom prst="rect">
            <a:avLst/>
          </a:prstGeom>
          <a:solidFill>
            <a:srgbClr val="F3F6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09360" y="1371600"/>
            <a:ext cx="41148" cy="4206240"/>
          </a:xfrm>
          <a:prstGeom prst="rect">
            <a:avLst/>
          </a:prstGeom>
          <a:solidFill>
            <a:srgbClr val="087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691640"/>
            <a:ext cx="4480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2B36"/>
                </a:solidFill>
                <a:latin typeface="Aptos"/>
              </a:rPr>
              <a:t>A demo you cannot re-run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2B36"/>
                </a:solidFill>
                <a:latin typeface="Aptos"/>
              </a:rPr>
              <a:t>is a story.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200400"/>
            <a:ext cx="4480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87E78"/>
                </a:solidFill>
                <a:latin typeface="Consolas"/>
              </a:rPr>
              <a:t>./run.sh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526873"/>
                </a:solidFill>
                <a:latin typeface="Aptos"/>
              </a:rPr>
              <a:t>checks the machine, starts six containers, seeds the data, polls /health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300" b="1">
                <a:solidFill>
                  <a:srgbClr val="087E78"/>
                </a:solidFill>
                <a:latin typeface="Consolas"/>
              </a:rPr>
              <a:t>./stop.sh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526873"/>
                </a:solidFill>
                <a:latin typeface="Aptos"/>
              </a:rPr>
              <a:t>stops it, then proves every port is closed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48920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72B36"/>
                </a:solidFill>
                <a:latin typeface="Aptos"/>
              </a:rPr>
              <a:t>github.com/sujith0613/sis-system-design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